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milianoorlando/Documents/Codex/2026-06-01/si-puedes-ingresar-a-mi-carpeta/cow-tracker-mvp-github/screenshots/Captura de pantalla 2026-06-02 a las 11.19.54 p. m.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719">
              <a:alpha val="84000"/>
            </a:srgbClr>
          </a:solidFill>
          <a:ln w="12700">
            <a:solidFill>
              <a:srgbClr val="172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8E94B"/>
          </a:solidFill>
          <a:ln w="12700">
            <a:solidFill>
              <a:srgbClr val="F8E94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658368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F8E94B"/>
          </a:solidFill>
          <a:ln w="12700">
            <a:solidFill>
              <a:srgbClr val="F8E9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11064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B0A"/>
                </a:solidFill>
              </a:rPr>
              <a:t>MVP COMPLETO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21792" y="117043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CowTrack MVP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58368" y="1965960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8F1D8"/>
                </a:solidFill>
              </a:rPr>
              <a:t>Detección, conteo, tracking y reidentificación de vacas en video aéreo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8368" y="565099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Emiliano Orlando · Pablo Canteros · Ramiro Ottone Villar · Verónica Arce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58368" y="596188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4BC"/>
                </a:solidFill>
              </a:rPr>
              <a:t>Instituto de Formación Técnica Superior Número 11 · Ciencia de Datos e IA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458200" y="4160520"/>
            <a:ext cx="137160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58200" y="4160520"/>
            <a:ext cx="73152" cy="1170432"/>
          </a:xfrm>
          <a:prstGeom prst="rect">
            <a:avLst/>
          </a:prstGeom>
          <a:solidFill>
            <a:srgbClr val="F8E94B"/>
          </a:solidFill>
          <a:ln w="12700">
            <a:solidFill>
              <a:srgbClr val="F8E9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59368" y="4315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8659368" y="47731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Re-ID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659368" y="50383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3/3 identidades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10012680" y="4160520"/>
            <a:ext cx="137160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12680" y="4160520"/>
            <a:ext cx="73152" cy="1170432"/>
          </a:xfrm>
          <a:prstGeom prst="rect">
            <a:avLst/>
          </a:prstGeom>
          <a:solidFill>
            <a:srgbClr val="2F86C6"/>
          </a:solidFill>
          <a:ln w="12700">
            <a:solidFill>
              <a:srgbClr val="2F86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13848" y="4315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10213848" y="47731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ID switches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213848" y="50383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Marta, Maria y Margarita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AGROPECUARIO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oportunidad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1243584"/>
            <a:ext cx="12191695" cy="54864"/>
          </a:xfrm>
          <a:prstGeom prst="rect">
            <a:avLst/>
          </a:prstGeom>
          <a:solidFill>
            <a:srgbClr val="D9B85F">
              <a:alpha val="80000"/>
            </a:srgbClr>
          </a:solidFill>
          <a:ln w="12700">
            <a:solidFill>
              <a:srgbClr val="D9B85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719"/>
                </a:solidFill>
              </a:rPr>
              <a:t>En ganadería, el seguimiento individual suele depender de observación manual, recorridas o dispositivos físicos.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719"/>
                </a:solidFill>
              </a:rPr>
              <a:t>El video aéreo con dron permite observar el rodeo, pero introduce desafíos: cambios de escala, giros de cámara, oclusiones y animales similares.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719"/>
                </a:solidFill>
              </a:rPr>
              <a:t>CowTrack transforma ese registro visual en una salida auditable: detección, tracking, conteo operativo y reidentificación individual.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1572768"/>
            <a:ext cx="4480560" cy="3429000"/>
          </a:xfrm>
          <a:prstGeom prst="rect">
            <a:avLst/>
          </a:prstGeom>
          <a:solidFill>
            <a:srgbClr val="FFF9EF"/>
          </a:solidFill>
          <a:ln w="12700">
            <a:solidFill>
              <a:srgbClr val="E5D4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1856232"/>
            <a:ext cx="73152" cy="310896"/>
          </a:xfrm>
          <a:prstGeom prst="rect">
            <a:avLst/>
          </a:prstGeom>
          <a:solidFill>
            <a:srgbClr val="B06B3F"/>
          </a:solidFill>
          <a:ln w="12700">
            <a:solidFill>
              <a:srgbClr val="B06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19110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06B3F"/>
                </a:solidFill>
              </a:rPr>
              <a:t>DESAFÍOS DEL CAMPO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59168" y="23317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Vacas parcialmente tapadas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Movimiento del dron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Animales que entran o salen de plano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Diferencia entre contar e identificar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IDs internos fragmentados por tracking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FUNCIONAL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del MVP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452C"/>
                </a:solidFill>
              </a:rPr>
              <a:t>Resultado esperado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719"/>
                </a:solidFill>
              </a:rPr>
              <a:t>Procesar video aéreo del campo Erondina y producir un render HD donde: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719"/>
                </a:solidFill>
              </a:rPr>
              <a:t>• cada vaca detectada tenga bounding box;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719"/>
                </a:solidFill>
              </a:rPr>
              <a:t>• Marta, Maria y Margarita estén identificadas con etiqueta priorizada;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719"/>
                </a:solidFill>
              </a:rPr>
              <a:t>• las identidades catalogadas se mantengan estables en el tiempo;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72719"/>
                </a:solidFill>
              </a:rPr>
              <a:t>• el conteo general quede medido y documentado.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192024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17320"/>
            <a:ext cx="73152" cy="1170432"/>
          </a:xfrm>
          <a:prstGeom prst="rect">
            <a:avLst/>
          </a:prstGeom>
          <a:solidFill>
            <a:srgbClr val="2F86C6"/>
          </a:solidFill>
          <a:ln w="12700">
            <a:solidFill>
              <a:srgbClr val="2F86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Marta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601968" y="20299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identidad catalogada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01968" y="2295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castaña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8549640" y="1417320"/>
            <a:ext cx="192024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1417320"/>
            <a:ext cx="73152" cy="1170432"/>
          </a:xfrm>
          <a:prstGeom prst="rect">
            <a:avLst/>
          </a:prstGeom>
          <a:solidFill>
            <a:srgbClr val="F8E94B"/>
          </a:solidFill>
          <a:ln w="12700">
            <a:solidFill>
              <a:srgbClr val="F8E9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0808" y="15727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Maria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750808" y="20299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identidad catalogada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50808" y="22951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negra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400800" y="2999232"/>
            <a:ext cx="192024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99232"/>
            <a:ext cx="73152" cy="1170432"/>
          </a:xfrm>
          <a:prstGeom prst="rect">
            <a:avLst/>
          </a:prstGeom>
          <a:solidFill>
            <a:srgbClr val="31D75C"/>
          </a:solidFill>
          <a:ln w="12700">
            <a:solidFill>
              <a:srgbClr val="31D7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Margarita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6601968" y="3611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identidad catalogada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01968" y="38770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castaña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8549640" y="2999232"/>
            <a:ext cx="192024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49640" y="2999232"/>
            <a:ext cx="73152" cy="1170432"/>
          </a:xfrm>
          <a:prstGeom prst="rect">
            <a:avLst/>
          </a:prstGeom>
          <a:solidFill>
            <a:srgbClr val="B06B3F"/>
          </a:solidFill>
          <a:ln w="12700">
            <a:solidFill>
              <a:srgbClr val="B06B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50808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 vs 21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8750808" y="361188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conteo documentado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50808" y="38770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real vs etiquetas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TÉCNICA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Datos, modelos y galería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7468"/>
                </a:solidFill>
              </a:rPr>
              <a:t>La solución combina un extractor Re-ID general con una galería específica del campo Erondina.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1938528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048256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OpenCows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Dataset general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0048" y="2395728"/>
            <a:ext cx="60350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64992" y="1938528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7A4A2D"/>
          </a:solidFill>
          <a:ln w="12700">
            <a:solidFill>
              <a:srgbClr val="7A4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48256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Entrenamiento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Re-ID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38928" y="2395728"/>
            <a:ext cx="60350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33872" y="1938528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B06B3F"/>
          </a:solidFill>
          <a:ln w="12700">
            <a:solidFill>
              <a:srgbClr val="B06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048256"/>
            <a:ext cx="1655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mi_modelo_reid.pt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54112" y="2395728"/>
            <a:ext cx="60350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49056" y="1938528"/>
            <a:ext cx="1600200" cy="914400"/>
          </a:xfrm>
          <a:prstGeom prst="roundRect">
            <a:avLst>
              <a:gd name="adj" fmla="val 5000"/>
            </a:avLst>
          </a:prstGeom>
          <a:solidFill>
            <a:srgbClr val="78904B"/>
          </a:solidFill>
          <a:ln w="12700">
            <a:solidFill>
              <a:srgbClr val="7890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2048256"/>
            <a:ext cx="1380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Embeddings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97280" y="3950208"/>
            <a:ext cx="2240280" cy="914400"/>
          </a:xfrm>
          <a:prstGeom prst="roundRect">
            <a:avLst>
              <a:gd name="adj" fmla="val 5000"/>
            </a:avLst>
          </a:prstGeom>
          <a:solidFill>
            <a:srgbClr val="D9B85F"/>
          </a:solidFill>
          <a:ln w="12700">
            <a:solidFill>
              <a:srgbClr val="D9B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059936"/>
            <a:ext cx="20208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A"/>
                </a:solidFill>
              </a:rPr>
              <a:t>Fotos extraídas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0B0A"/>
                </a:solidFill>
              </a:rPr>
              <a:t>del campo Erondina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01568" y="4407408"/>
            <a:ext cx="60350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096512" y="3950208"/>
            <a:ext cx="2057400" cy="914400"/>
          </a:xfrm>
          <a:prstGeom prst="roundRect">
            <a:avLst>
              <a:gd name="adj" fmla="val 5000"/>
            </a:avLst>
          </a:prstGeom>
          <a:solidFill>
            <a:srgbClr val="53733A"/>
          </a:solidFill>
          <a:ln w="12700">
            <a:solidFill>
              <a:srgbClr val="537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4059936"/>
            <a:ext cx="1837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Recorte y filtrado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 referencias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6208" y="4407408"/>
            <a:ext cx="60350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31152" y="3950208"/>
            <a:ext cx="2788920" cy="914400"/>
          </a:xfrm>
          <a:prstGeom prst="roundRect">
            <a:avLst>
              <a:gd name="adj" fmla="val 5000"/>
            </a:avLst>
          </a:prstGeom>
          <a:solidFill>
            <a:srgbClr val="F8E94B"/>
          </a:solidFill>
          <a:ln w="12700">
            <a:solidFill>
              <a:srgbClr val="F8E9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4059936"/>
            <a:ext cx="2569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A"/>
                </a:solidFill>
              </a:rPr>
              <a:t>Galería Erondina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0B0A"/>
                </a:solidFill>
              </a:rPr>
              <a:t>Marta · Maria · Margarita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55955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3452C"/>
                </a:solidFill>
              </a:rPr>
              <a:t>Decisión clave: aislar referencias visuales enfocadas para que la comparación de embeddings sea más robusta.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VIDEO A RENDER HD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del pipeline final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Video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Erondina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7A4A2D"/>
          </a:solidFill>
          <a:ln w="12700">
            <a:solidFill>
              <a:srgbClr val="7A4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856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YOLOv8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Detección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B06B3F"/>
          </a:solidFill>
          <a:ln w="12700">
            <a:solidFill>
              <a:srgbClr val="B06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1304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Tracking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78904B"/>
          </a:solidFill>
          <a:ln w="12700">
            <a:solidFill>
              <a:srgbClr val="7890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Recortes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por vaca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53733A"/>
          </a:solidFill>
          <a:ln w="12700">
            <a:solidFill>
              <a:srgbClr val="537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Embeddings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cuerpo + cabeza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D9B85F"/>
          </a:solidFill>
          <a:ln w="12700">
            <a:solidFill>
              <a:srgbClr val="D9B8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A"/>
                </a:solidFill>
              </a:rPr>
              <a:t>FAISS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0B0A"/>
                </a:solidFill>
              </a:rPr>
              <a:t>coseno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21240" y="1508760"/>
            <a:ext cx="1234440" cy="786384"/>
          </a:xfrm>
          <a:prstGeom prst="roundRect">
            <a:avLst>
              <a:gd name="adj" fmla="val 5814"/>
            </a:avLst>
          </a:prstGeom>
          <a:solidFill>
            <a:srgbClr val="2F86C6"/>
          </a:solidFill>
          <a:ln w="12700">
            <a:solidFill>
              <a:srgbClr val="2F86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30968" y="1618488"/>
            <a:ext cx="1014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IDs globales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bloqueados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56232" y="1901952"/>
            <a:ext cx="23774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10712" y="1901952"/>
            <a:ext cx="23774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65192" y="1901952"/>
            <a:ext cx="23774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19672" y="1901952"/>
            <a:ext cx="23774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74152" y="1901952"/>
            <a:ext cx="23774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28632" y="1901952"/>
            <a:ext cx="237744" cy="0"/>
          </a:xfrm>
          <a:prstGeom prst="line">
            <a:avLst/>
          </a:prstGeom>
          <a:noFill/>
          <a:ln w="25400">
            <a:solidFill>
              <a:srgbClr val="D9B85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5800" y="3063240"/>
            <a:ext cx="10698480" cy="2011680"/>
          </a:xfrm>
          <a:prstGeom prst="rect">
            <a:avLst/>
          </a:prstGeom>
          <a:solidFill>
            <a:srgbClr val="FFF9EF"/>
          </a:solidFill>
          <a:ln w="12700">
            <a:solidFill>
              <a:srgbClr val="E2D0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7552" y="3401568"/>
            <a:ext cx="73152" cy="310896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3856" y="345643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452C"/>
                </a:solidFill>
              </a:rPr>
              <a:t>LÓGICA CENTRAL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87552" y="3822192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Una vez reconocida la identidad, el render final no decide desde cero en cada frame: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usa la identidad de la vaca reconocida y la sigue temporalmente.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Esto reduce cambios de ID y prioriza las etiquetas de Marta, Maria y Margarita por encima de vacas no catalogadas.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MARTA · MARIA · MARGARITA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Re-ID: tres identidades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pic>
        <p:nvPicPr>
          <p:cNvPr id="7" name="Image 0" descr="/Users/emilianoorlando/Documents/Codex/2026-06-01/si-puedes-ingresar-a-mi-carpeta/cow-tracker-mvp-github/reports/final/16_erondina_final_contact_sh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512064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389888"/>
            <a:ext cx="5074920" cy="3794760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10528" y="1691640"/>
            <a:ext cx="73152" cy="310896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174650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452C"/>
                </a:solidFill>
              </a:rPr>
              <a:t>SCORES FINALES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10528" y="2148840"/>
            <a:ext cx="118872" cy="420624"/>
          </a:xfrm>
          <a:prstGeom prst="rect">
            <a:avLst/>
          </a:prstGeom>
          <a:solidFill>
            <a:srgbClr val="31D75C"/>
          </a:solidFill>
          <a:ln w="12700">
            <a:solidFill>
              <a:srgbClr val="31D7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29984" y="2176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19"/>
                </a:solidFill>
              </a:rPr>
              <a:t>Margarita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21762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52C"/>
                </a:solidFill>
              </a:rPr>
              <a:t>0.9269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235440" y="2194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468"/>
                </a:solidFill>
              </a:rPr>
              <a:t>AP@0.5 = 1.0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10528" y="2926080"/>
            <a:ext cx="118872" cy="420624"/>
          </a:xfrm>
          <a:prstGeom prst="rect">
            <a:avLst/>
          </a:prstGeom>
          <a:solidFill>
            <a:srgbClr val="F8E94B"/>
          </a:solidFill>
          <a:ln w="12700">
            <a:solidFill>
              <a:srgbClr val="F8E9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9984" y="29535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19"/>
                </a:solidFill>
              </a:rPr>
              <a:t>Maria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0" y="2953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52C"/>
                </a:solidFill>
              </a:rPr>
              <a:t>0.8973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235440" y="2971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468"/>
                </a:solidFill>
              </a:rPr>
              <a:t>AP@0.5 = 1.0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10528" y="3703320"/>
            <a:ext cx="118872" cy="420624"/>
          </a:xfrm>
          <a:prstGeom prst="rect">
            <a:avLst/>
          </a:prstGeom>
          <a:solidFill>
            <a:srgbClr val="2F86C6"/>
          </a:solidFill>
          <a:ln w="12700">
            <a:solidFill>
              <a:srgbClr val="2F86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9984" y="37307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719"/>
                </a:solidFill>
              </a:rPr>
              <a:t>Marta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0" y="37307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452C"/>
                </a:solidFill>
              </a:rPr>
              <a:t>0.9459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235440" y="37490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468"/>
                </a:solidFill>
              </a:rPr>
              <a:t>AP@0.5 = 1.0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510528" y="4480560"/>
            <a:ext cx="1481328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10528" y="4480560"/>
            <a:ext cx="73152" cy="117043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11696" y="463600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6711696" y="509320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Precision Re-ID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711696" y="535838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TP/(TP+FP)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8174736" y="4480560"/>
            <a:ext cx="1481328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74736" y="4480560"/>
            <a:ext cx="73152" cy="117043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75904" y="463600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500" dirty="0"/>
          </a:p>
        </p:txBody>
      </p:sp>
      <p:sp>
        <p:nvSpPr>
          <p:cNvPr id="31" name="Text 28"/>
          <p:cNvSpPr/>
          <p:nvPr/>
        </p:nvSpPr>
        <p:spPr>
          <a:xfrm>
            <a:off x="8375904" y="509320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Recall Re-ID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375904" y="535838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TP/(TP+FN)</a:t>
            </a:r>
            <a:endParaRPr lang="en-US" sz="740" dirty="0"/>
          </a:p>
        </p:txBody>
      </p:sp>
      <p:sp>
        <p:nvSpPr>
          <p:cNvPr id="33" name="Shape 30"/>
          <p:cNvSpPr/>
          <p:nvPr/>
        </p:nvSpPr>
        <p:spPr>
          <a:xfrm>
            <a:off x="9838944" y="4480560"/>
            <a:ext cx="1481328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838944" y="4480560"/>
            <a:ext cx="73152" cy="117043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40112" y="463600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lang="en-US" sz="2500" dirty="0"/>
          </a:p>
        </p:txBody>
      </p:sp>
      <p:sp>
        <p:nvSpPr>
          <p:cNvPr id="36" name="Text 33"/>
          <p:cNvSpPr/>
          <p:nvPr/>
        </p:nvSpPr>
        <p:spPr>
          <a:xfrm>
            <a:off x="10040112" y="509320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mAP@0.5 Re-ID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040112" y="5358384"/>
            <a:ext cx="1161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3 identidades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DE PRESENTACIÓN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visual del render HD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pic>
        <p:nvPicPr>
          <p:cNvPr id="7" name="Image 0" descr="/Users/emilianoorlando/Documents/Codex/2026-06-01/si-puedes-ingresar-a-mi-carpeta/cow-tracker-mvp-github/reports/final/16_erondina_final_render_pre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61872"/>
            <a:ext cx="11228832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" y="5596128"/>
            <a:ext cx="11228832" cy="53035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5779008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Etiquetas priorizadas para vacas reidentificadas + bounding boxes para vacas no catalogadas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CUANTITATIVA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del MVP final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224028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371600"/>
            <a:ext cx="73152" cy="1170432"/>
          </a:xfrm>
          <a:prstGeom prst="rect">
            <a:avLst/>
          </a:prstGeom>
          <a:solidFill>
            <a:srgbClr val="D9B85F"/>
          </a:solidFill>
          <a:ln w="12700">
            <a:solidFill>
              <a:srgbClr val="D9B8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47.01 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59536" y="1984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Duración del video final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9536" y="22494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1409 frames · 29.97 FPS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3154680" y="1371600"/>
            <a:ext cx="224028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71600"/>
            <a:ext cx="73152" cy="117043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1920×1080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355848" y="1984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Resolución HD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22494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render final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650992" y="1371600"/>
            <a:ext cx="224028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1371600"/>
            <a:ext cx="73152" cy="1170432"/>
          </a:xfrm>
          <a:prstGeom prst="rect">
            <a:avLst/>
          </a:prstGeom>
          <a:solidFill>
            <a:srgbClr val="2F86C6"/>
          </a:solidFill>
          <a:ln w="12700">
            <a:solidFill>
              <a:srgbClr val="2F86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99.81%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5852160" y="1984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Presencia promedio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2160" y="22494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vacas catalogadas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147304" y="1371600"/>
            <a:ext cx="224028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47304" y="1371600"/>
            <a:ext cx="73152" cy="117043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48472" y="1527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8348472" y="1984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ID switches Re-ID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348472" y="22494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identidades bloqueadas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58368" y="3246120"/>
            <a:ext cx="10625328" cy="2423160"/>
          </a:xfrm>
          <a:prstGeom prst="rect">
            <a:avLst/>
          </a:prstGeom>
          <a:solidFill>
            <a:srgbClr val="FFF9EF"/>
          </a:solidFill>
          <a:ln w="12700">
            <a:solidFill>
              <a:srgbClr val="E1D0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520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452C"/>
                </a:solidFill>
              </a:rPr>
              <a:t>Tabla solicitada de validación Re-ID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04164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F7468"/>
                </a:solidFill>
              </a:rPr>
              <a:t>Métrica evaluada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0" y="40416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F7468"/>
                </a:solidFill>
              </a:rPr>
              <a:t>Valor obtenido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080760" y="40416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F7468"/>
                </a:solidFill>
              </a:rPr>
              <a:t>Umbral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01000" y="404164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F7468"/>
                </a:solidFill>
              </a:rPr>
              <a:t>Estado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60120" y="442569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719"/>
                </a:solidFill>
              </a:rPr>
              <a:t>Precisión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442569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719"/>
                </a:solidFill>
              </a:rPr>
              <a:t>100.0%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80760" y="442569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719"/>
                </a:solidFill>
              </a:rPr>
              <a:t>&gt; 80.0%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01000" y="442569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52C"/>
                </a:solidFill>
              </a:rPr>
              <a:t>Superado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481888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719"/>
                </a:solidFill>
              </a:rPr>
              <a:t>Exhaustividad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0" y="48188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719"/>
                </a:solidFill>
              </a:rPr>
              <a:t>100.0%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48188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719"/>
                </a:solidFill>
              </a:rPr>
              <a:t>&gt; 80.0%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01000" y="481888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52C"/>
                </a:solidFill>
              </a:rPr>
              <a:t>Superado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60120" y="52120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719"/>
                </a:solidFill>
              </a:rPr>
              <a:t>mAP@0.5 Re-ID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52120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719"/>
                </a:solidFill>
              </a:rPr>
              <a:t>100.0%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52120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719"/>
                </a:solidFill>
              </a:rPr>
              <a:t>&gt; 85.0%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01000" y="52120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52C"/>
                </a:solidFill>
              </a:rPr>
              <a:t>Superado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OPERATIVO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Conteo general: lectura honesta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7468"/>
                </a:solidFill>
              </a:rPr>
              <a:t>La Re-ID individual se valida aparte del conteo automático general.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210312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28800"/>
            <a:ext cx="73152" cy="117043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984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50976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Vacas reales confirmadas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50976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referencia visual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154680" y="1828800"/>
            <a:ext cx="210312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828800"/>
            <a:ext cx="73152" cy="1170432"/>
          </a:xfrm>
          <a:prstGeom prst="rect">
            <a:avLst/>
          </a:prstGeom>
          <a:solidFill>
            <a:srgbClr val="B06B3F"/>
          </a:solidFill>
          <a:ln w="12700">
            <a:solidFill>
              <a:srgbClr val="B06B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984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355848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Etiquetas automáticas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55848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fragmentación del tracker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5559552" y="1828800"/>
            <a:ext cx="2103120" cy="1170432"/>
          </a:xfrm>
          <a:prstGeom prst="rect">
            <a:avLst/>
          </a:prstGeom>
          <a:solidFill>
            <a:srgbClr val="FFF9EF"/>
          </a:solidFill>
          <a:ln w="12700">
            <a:solidFill>
              <a:srgbClr val="E7D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59552" y="1828800"/>
            <a:ext cx="73152" cy="1170432"/>
          </a:xfrm>
          <a:prstGeom prst="rect">
            <a:avLst/>
          </a:prstGeom>
          <a:solidFill>
            <a:srgbClr val="D9B85F"/>
          </a:solidFill>
          <a:ln w="12700">
            <a:solidFill>
              <a:srgbClr val="D9B8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1984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5760720" y="244144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3452C"/>
                </a:solidFill>
              </a:rPr>
              <a:t>Error absoluto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0" y="27066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F7468"/>
                </a:solidFill>
              </a:rPr>
              <a:t>sobreconteo documentado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77240" y="3703320"/>
            <a:ext cx="9784080" cy="310896"/>
          </a:xfrm>
          <a:prstGeom prst="rect">
            <a:avLst/>
          </a:prstGeom>
          <a:solidFill>
            <a:srgbClr val="E6D2A0"/>
          </a:solidFill>
          <a:ln w="12700">
            <a:solidFill>
              <a:srgbClr val="E6D2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703320"/>
            <a:ext cx="6062472" cy="310896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794760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 reales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098280" y="379476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719"/>
                </a:solidFill>
              </a:rPr>
              <a:t>21 etiquetas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" y="4572000"/>
            <a:ext cx="10424160" cy="1051560"/>
          </a:xfrm>
          <a:prstGeom prst="rect">
            <a:avLst/>
          </a:prstGeom>
          <a:solidFill>
            <a:srgbClr val="FFF9EF"/>
          </a:solidFill>
          <a:ln w="12700">
            <a:solidFill>
              <a:srgbClr val="E1D0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48188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72719"/>
                </a:solidFill>
              </a:rPr>
              <a:t>Interpretación: las tres vacas catalogadas usan galería específica, embeddings individuales y subembeddings regionales.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72719"/>
                </a:solidFill>
              </a:rPr>
              <a:t>Las vacas no catalogadas dependen del tracker general; algunas se fragmentan en más de una etiqueta cuando hay giros, oclusiones o cambios de ángulo.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452C">
              <a:alpha val="92000"/>
            </a:srgbClr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90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DEL MVP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21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y próximos pasos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65683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EAD8"/>
                </a:solidFill>
              </a:rPr>
              <a:t>IFTS N° 11 · Ciencia de Datos e IA · Junio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5166360" cy="4389120"/>
          </a:xfrm>
          <a:prstGeom prst="rect">
            <a:avLst/>
          </a:prstGeom>
          <a:solidFill>
            <a:srgbClr val="23452C"/>
          </a:solidFill>
          <a:ln w="12700">
            <a:solidFill>
              <a:srgbClr val="234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 MVP queda completo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87552" y="2487168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Detector y render HD funcionales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Re-ID correcta de Marta, Maria y Margarita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Etiquetas estables para identidades catalogadas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Métricas calculadas desde reporte JSON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Limitación de conteo general documentada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4983480" cy="4389120"/>
          </a:xfrm>
          <a:prstGeom prst="rect">
            <a:avLst/>
          </a:prstGeom>
          <a:solidFill>
            <a:srgbClr val="FFF9EF"/>
          </a:solidFill>
          <a:ln w="12700">
            <a:solidFill>
              <a:srgbClr val="E1D0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452C"/>
                </a:solidFill>
              </a:rPr>
              <a:t>Líneas futuras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304288"/>
            <a:ext cx="4251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Anotar ground truth de bounding boxes para medir mAP de detección.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Mejorar el conteo de vacas no catalogadas con asociación temporal más fuerte.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Ampliar la galería a más animales del rodeo.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719"/>
                </a:solidFill>
              </a:rPr>
              <a:t>• Integrar reportes automáticos para uso productivo.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49560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7A4A2D"/>
                </a:solidFill>
              </a:rPr>
              <a:t>CowTrack demuestra una aplicación concreta de IA al monitoreo ganadero con evidencia visual auditable.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Instituto de Formación Técnica Superior Número 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CowTrack MVP</dc:title>
  <dc:subject>Detección, tracking y reidentificación de vacas en video aéreo</dc:subject>
  <dc:creator>CowTrack MVP</dc:creator>
  <cp:lastModifiedBy>CowTrack MVP</cp:lastModifiedBy>
  <cp:revision>1</cp:revision>
  <dcterms:created xsi:type="dcterms:W3CDTF">2026-06-07T23:17:54Z</dcterms:created>
  <dcterms:modified xsi:type="dcterms:W3CDTF">2026-06-07T23:17:54Z</dcterms:modified>
</cp:coreProperties>
</file>